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image" Target="../media/image-2-1.png"/><Relationship Id="rId5" Type="http://schemas.openxmlformats.org/officeDocument/2006/relationships/image" Target="../media/image-2-1.png"/><Relationship Id="rId6" Type="http://schemas.openxmlformats.org/officeDocument/2006/relationships/image" Target="../media/image-2-1.png"/><Relationship Id="rId7" Type="http://schemas.openxmlformats.org/officeDocument/2006/relationships/image" Target="../media/image-2-1.png"/><Relationship Id="rId8" Type="http://schemas.openxmlformats.org/officeDocument/2006/relationships/image" Target="../media/image-2-1.png"/><Relationship Id="rId9" Type="http://schemas.openxmlformats.org/officeDocument/2006/relationships/image" Target="../media/image-2-1.png"/><Relationship Id="rId10" Type="http://schemas.openxmlformats.org/officeDocument/2006/relationships/image" Target="../media/image-2-1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image" Target="../media/image-5-1.png"/><Relationship Id="rId6" Type="http://schemas.openxmlformats.org/officeDocument/2006/relationships/image" Target="../media/image-5-1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E8873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20624" y="566928"/>
            <a:ext cx="7863840" cy="713232"/>
          </a:xfrm>
          <a:prstGeom prst="roundRect">
            <a:avLst>
              <a:gd name="adj" fmla="val 12821"/>
            </a:avLst>
          </a:prstGeom>
          <a:solidFill>
            <a:srgbClr val="E3F3F3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566928"/>
            <a:ext cx="7589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353312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Multi-Agent AI System for Academic Assistance and Learning Support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979676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9" name="Image 0" descr="icon_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980" y="2138416"/>
            <a:ext cx="249448" cy="2494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1783080"/>
            <a:ext cx="9921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provide learning support, intelligent educational guidance, academic information retrieval, and resource recommendations for students — through four specialized AI agents working behind a single conversational interface.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2971800"/>
            <a:ext cx="3526536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49808" y="3172968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icon_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583" y="3290743"/>
            <a:ext cx="185075" cy="18507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98448" y="3172968"/>
            <a:ext cx="2612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768096" y="3749040"/>
            <a:ext cx="329184" cy="329184"/>
          </a:xfrm>
          <a:prstGeom prst="ellipse">
            <a:avLst/>
          </a:prstGeom>
          <a:solidFill>
            <a:srgbClr val="EFF6F7"/>
          </a:solidFill>
          <a:ln w="9525">
            <a:solidFill>
              <a:srgbClr val="D7E4EA"/>
            </a:solidFill>
            <a:prstDash val="solid"/>
          </a:ln>
        </p:spPr>
      </p:sp>
      <p:pic>
        <p:nvPicPr>
          <p:cNvPr id="16" name="Image 2" descr="tech_pyth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" y="3808476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07008" y="3730752"/>
            <a:ext cx="2703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768096" y="4110228"/>
            <a:ext cx="329184" cy="329184"/>
          </a:xfrm>
          <a:prstGeom prst="ellipse">
            <a:avLst/>
          </a:prstGeom>
          <a:solidFill>
            <a:srgbClr val="EFF6F7"/>
          </a:solidFill>
          <a:ln w="9525">
            <a:solidFill>
              <a:srgbClr val="D7E4EA"/>
            </a:solidFill>
            <a:prstDash val="solid"/>
          </a:ln>
        </p:spPr>
      </p:sp>
      <p:pic>
        <p:nvPicPr>
          <p:cNvPr id="19" name="Image 3" descr="tech_flas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" y="4169664"/>
            <a:ext cx="210312" cy="21031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07008" y="4091940"/>
            <a:ext cx="2703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768096" y="4471416"/>
            <a:ext cx="329184" cy="329184"/>
          </a:xfrm>
          <a:prstGeom prst="ellipse">
            <a:avLst/>
          </a:prstGeom>
          <a:solidFill>
            <a:srgbClr val="EFF6F7"/>
          </a:solidFill>
          <a:ln w="9525">
            <a:solidFill>
              <a:srgbClr val="D7E4EA"/>
            </a:solidFill>
            <a:prstDash val="solid"/>
          </a:ln>
        </p:spPr>
      </p:sp>
      <p:pic>
        <p:nvPicPr>
          <p:cNvPr id="22" name="Image 4" descr="tech_panda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" y="4530852"/>
            <a:ext cx="210312" cy="2103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07008" y="4453128"/>
            <a:ext cx="2703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768096" y="4832604"/>
            <a:ext cx="329184" cy="329184"/>
          </a:xfrm>
          <a:prstGeom prst="ellipse">
            <a:avLst/>
          </a:prstGeom>
          <a:solidFill>
            <a:srgbClr val="EFF6F7"/>
          </a:solidFill>
          <a:ln w="9525">
            <a:solidFill>
              <a:srgbClr val="D7E4EA"/>
            </a:solidFill>
            <a:prstDash val="solid"/>
          </a:ln>
        </p:spPr>
      </p:sp>
      <p:pic>
        <p:nvPicPr>
          <p:cNvPr id="25" name="Image 5" descr="tech_html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" y="4892040"/>
            <a:ext cx="210312" cy="21031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207008" y="4814316"/>
            <a:ext cx="2703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768096" y="5193792"/>
            <a:ext cx="329184" cy="329184"/>
          </a:xfrm>
          <a:prstGeom prst="ellipse">
            <a:avLst/>
          </a:prstGeom>
          <a:solidFill>
            <a:srgbClr val="EFF6F7"/>
          </a:solidFill>
          <a:ln w="9525">
            <a:solidFill>
              <a:srgbClr val="D7E4EA"/>
            </a:solidFill>
            <a:prstDash val="solid"/>
          </a:ln>
        </p:spPr>
      </p:sp>
      <p:pic>
        <p:nvPicPr>
          <p:cNvPr id="28" name="Image 6" descr="tech_css3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676" y="5253228"/>
            <a:ext cx="210312" cy="21031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207008" y="5175504"/>
            <a:ext cx="2703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200" dirty="0"/>
          </a:p>
        </p:txBody>
      </p:sp>
      <p:sp>
        <p:nvSpPr>
          <p:cNvPr id="30" name="Shape 21"/>
          <p:cNvSpPr/>
          <p:nvPr/>
        </p:nvSpPr>
        <p:spPr>
          <a:xfrm>
            <a:off x="768096" y="5554980"/>
            <a:ext cx="329184" cy="329184"/>
          </a:xfrm>
          <a:prstGeom prst="ellipse">
            <a:avLst/>
          </a:prstGeom>
          <a:solidFill>
            <a:srgbClr val="EFF6F7"/>
          </a:solidFill>
          <a:ln w="9525">
            <a:solidFill>
              <a:srgbClr val="D7E4EA"/>
            </a:solidFill>
            <a:prstDash val="solid"/>
          </a:ln>
        </p:spPr>
      </p:sp>
      <p:pic>
        <p:nvPicPr>
          <p:cNvPr id="31" name="Image 7" descr="tech_j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76" y="5614416"/>
            <a:ext cx="210312" cy="210312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1207008" y="5536692"/>
            <a:ext cx="2703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33" name="Shape 23"/>
          <p:cNvSpPr/>
          <p:nvPr/>
        </p:nvSpPr>
        <p:spPr>
          <a:xfrm>
            <a:off x="768096" y="5916168"/>
            <a:ext cx="329184" cy="329184"/>
          </a:xfrm>
          <a:prstGeom prst="ellipse">
            <a:avLst/>
          </a:prstGeom>
          <a:solidFill>
            <a:srgbClr val="EFF6F7"/>
          </a:solidFill>
          <a:ln w="9525">
            <a:solidFill>
              <a:srgbClr val="D7E4EA"/>
            </a:solidFill>
            <a:prstDash val="solid"/>
          </a:ln>
        </p:spPr>
      </p:sp>
      <p:pic>
        <p:nvPicPr>
          <p:cNvPr id="34" name="Image 8" descr="tech_github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6676" y="5975604"/>
            <a:ext cx="210312" cy="210312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1207008" y="5897880"/>
            <a:ext cx="2703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00" dirty="0"/>
          </a:p>
        </p:txBody>
      </p:sp>
      <p:sp>
        <p:nvSpPr>
          <p:cNvPr id="36" name="Shape 25"/>
          <p:cNvSpPr/>
          <p:nvPr/>
        </p:nvSpPr>
        <p:spPr>
          <a:xfrm>
            <a:off x="4331208" y="2971800"/>
            <a:ext cx="3526536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37" name="Shape 26"/>
          <p:cNvSpPr/>
          <p:nvPr/>
        </p:nvSpPr>
        <p:spPr>
          <a:xfrm>
            <a:off x="4532376" y="3172968"/>
            <a:ext cx="420624" cy="420624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38" name="Image 9" descr="feat_multiagen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50151" y="3290743"/>
            <a:ext cx="185075" cy="185075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5081016" y="3172968"/>
            <a:ext cx="2612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Features</a:t>
            </a:r>
            <a:endParaRPr lang="en-US" sz="1450" dirty="0"/>
          </a:p>
        </p:txBody>
      </p:sp>
      <p:sp>
        <p:nvSpPr>
          <p:cNvPr id="40" name="Shape 28"/>
          <p:cNvSpPr/>
          <p:nvPr/>
        </p:nvSpPr>
        <p:spPr>
          <a:xfrm>
            <a:off x="4550664" y="3799332"/>
            <a:ext cx="146304" cy="146304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41" name="Text 29"/>
          <p:cNvSpPr/>
          <p:nvPr/>
        </p:nvSpPr>
        <p:spPr>
          <a:xfrm>
            <a:off x="4834128" y="3730752"/>
            <a:ext cx="2840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Question Answering</a:t>
            </a:r>
            <a:endParaRPr lang="en-US" sz="1150" dirty="0"/>
          </a:p>
        </p:txBody>
      </p:sp>
      <p:sp>
        <p:nvSpPr>
          <p:cNvPr id="42" name="Shape 30"/>
          <p:cNvSpPr/>
          <p:nvPr/>
        </p:nvSpPr>
        <p:spPr>
          <a:xfrm>
            <a:off x="4550664" y="4160520"/>
            <a:ext cx="146304" cy="146304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43" name="Text 31"/>
          <p:cNvSpPr/>
          <p:nvPr/>
        </p:nvSpPr>
        <p:spPr>
          <a:xfrm>
            <a:off x="4834128" y="4091940"/>
            <a:ext cx="2840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Information Retrieval</a:t>
            </a:r>
            <a:endParaRPr lang="en-US" sz="1150" dirty="0"/>
          </a:p>
        </p:txBody>
      </p:sp>
      <p:sp>
        <p:nvSpPr>
          <p:cNvPr id="44" name="Shape 32"/>
          <p:cNvSpPr/>
          <p:nvPr/>
        </p:nvSpPr>
        <p:spPr>
          <a:xfrm>
            <a:off x="4550664" y="4521708"/>
            <a:ext cx="146304" cy="146304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45" name="Text 33"/>
          <p:cNvSpPr/>
          <p:nvPr/>
        </p:nvSpPr>
        <p:spPr>
          <a:xfrm>
            <a:off x="4834128" y="4453128"/>
            <a:ext cx="2840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Information Retrieval</a:t>
            </a:r>
            <a:endParaRPr lang="en-US" sz="1150" dirty="0"/>
          </a:p>
        </p:txBody>
      </p:sp>
      <p:sp>
        <p:nvSpPr>
          <p:cNvPr id="46" name="Shape 34"/>
          <p:cNvSpPr/>
          <p:nvPr/>
        </p:nvSpPr>
        <p:spPr>
          <a:xfrm>
            <a:off x="4550664" y="4882896"/>
            <a:ext cx="146304" cy="146304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47" name="Text 35"/>
          <p:cNvSpPr/>
          <p:nvPr/>
        </p:nvSpPr>
        <p:spPr>
          <a:xfrm>
            <a:off x="4834128" y="4814316"/>
            <a:ext cx="2840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 Information Retrieval</a:t>
            </a:r>
            <a:endParaRPr lang="en-US" sz="1150" dirty="0"/>
          </a:p>
        </p:txBody>
      </p:sp>
      <p:sp>
        <p:nvSpPr>
          <p:cNvPr id="48" name="Shape 36"/>
          <p:cNvSpPr/>
          <p:nvPr/>
        </p:nvSpPr>
        <p:spPr>
          <a:xfrm>
            <a:off x="4550664" y="5244084"/>
            <a:ext cx="146304" cy="146304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49" name="Text 37"/>
          <p:cNvSpPr/>
          <p:nvPr/>
        </p:nvSpPr>
        <p:spPr>
          <a:xfrm>
            <a:off x="4834128" y="5175504"/>
            <a:ext cx="2840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Architecture</a:t>
            </a:r>
            <a:endParaRPr lang="en-US" sz="1150" dirty="0"/>
          </a:p>
        </p:txBody>
      </p:sp>
      <p:sp>
        <p:nvSpPr>
          <p:cNvPr id="50" name="Shape 38"/>
          <p:cNvSpPr/>
          <p:nvPr/>
        </p:nvSpPr>
        <p:spPr>
          <a:xfrm>
            <a:off x="4550664" y="5605272"/>
            <a:ext cx="146304" cy="146304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51" name="Text 39"/>
          <p:cNvSpPr/>
          <p:nvPr/>
        </p:nvSpPr>
        <p:spPr>
          <a:xfrm>
            <a:off x="4834128" y="5536692"/>
            <a:ext cx="2840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Assistance Chat UI</a:t>
            </a:r>
            <a:endParaRPr lang="en-US" sz="1150" dirty="0"/>
          </a:p>
        </p:txBody>
      </p:sp>
      <p:sp>
        <p:nvSpPr>
          <p:cNvPr id="52" name="Shape 40"/>
          <p:cNvSpPr/>
          <p:nvPr/>
        </p:nvSpPr>
        <p:spPr>
          <a:xfrm>
            <a:off x="4550664" y="5966460"/>
            <a:ext cx="146304" cy="146304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53" name="Text 41"/>
          <p:cNvSpPr/>
          <p:nvPr/>
        </p:nvSpPr>
        <p:spPr>
          <a:xfrm>
            <a:off x="4834128" y="5897880"/>
            <a:ext cx="2840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using Flask</a:t>
            </a:r>
            <a:endParaRPr lang="en-US" sz="1150" dirty="0"/>
          </a:p>
        </p:txBody>
      </p:sp>
      <p:sp>
        <p:nvSpPr>
          <p:cNvPr id="54" name="Shape 42"/>
          <p:cNvSpPr/>
          <p:nvPr/>
        </p:nvSpPr>
        <p:spPr>
          <a:xfrm>
            <a:off x="8113776" y="2971800"/>
            <a:ext cx="3526536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55" name="Shape 43"/>
          <p:cNvSpPr/>
          <p:nvPr/>
        </p:nvSpPr>
        <p:spPr>
          <a:xfrm>
            <a:off x="8314944" y="3172968"/>
            <a:ext cx="420624" cy="420624"/>
          </a:xfrm>
          <a:prstGeom prst="ellipse">
            <a:avLst/>
          </a:prstGeom>
          <a:solidFill>
            <a:srgbClr val="E8873A"/>
          </a:solidFill>
          <a:ln/>
        </p:spPr>
      </p:sp>
      <p:pic>
        <p:nvPicPr>
          <p:cNvPr id="56" name="Image 10" descr="icon_databas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32719" y="3290743"/>
            <a:ext cx="185075" cy="185075"/>
          </a:xfrm>
          <a:prstGeom prst="rect">
            <a:avLst/>
          </a:prstGeom>
        </p:spPr>
      </p:pic>
      <p:sp>
        <p:nvSpPr>
          <p:cNvPr id="57" name="Text 44"/>
          <p:cNvSpPr/>
          <p:nvPr/>
        </p:nvSpPr>
        <p:spPr>
          <a:xfrm>
            <a:off x="8863584" y="3172968"/>
            <a:ext cx="2612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Used</a:t>
            </a:r>
            <a:endParaRPr lang="en-US" sz="1450" dirty="0"/>
          </a:p>
        </p:txBody>
      </p:sp>
      <p:sp>
        <p:nvSpPr>
          <p:cNvPr id="58" name="Shape 45"/>
          <p:cNvSpPr/>
          <p:nvPr/>
        </p:nvSpPr>
        <p:spPr>
          <a:xfrm>
            <a:off x="8333232" y="3794760"/>
            <a:ext cx="365760" cy="365760"/>
          </a:xfrm>
          <a:prstGeom prst="ellipse">
            <a:avLst/>
          </a:prstGeom>
          <a:solidFill>
            <a:srgbClr val="EFF6F7"/>
          </a:solidFill>
          <a:ln w="9525">
            <a:solidFill>
              <a:srgbClr val="D7E4EA"/>
            </a:solidFill>
            <a:prstDash val="solid"/>
          </a:ln>
        </p:spPr>
      </p:sp>
      <p:pic>
        <p:nvPicPr>
          <p:cNvPr id="59" name="Image 11" descr="db_json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20100" y="3872484"/>
            <a:ext cx="210312" cy="210312"/>
          </a:xfrm>
          <a:prstGeom prst="rect">
            <a:avLst/>
          </a:prstGeom>
        </p:spPr>
      </p:pic>
      <p:sp>
        <p:nvSpPr>
          <p:cNvPr id="60" name="Text 46"/>
          <p:cNvSpPr/>
          <p:nvPr/>
        </p:nvSpPr>
        <p:spPr>
          <a:xfrm>
            <a:off x="8827008" y="3767328"/>
            <a:ext cx="2154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Dataset</a:t>
            </a:r>
            <a:endParaRPr lang="en-US" sz="1150" dirty="0"/>
          </a:p>
        </p:txBody>
      </p:sp>
      <p:sp>
        <p:nvSpPr>
          <p:cNvPr id="61" name="Text 47"/>
          <p:cNvSpPr/>
          <p:nvPr/>
        </p:nvSpPr>
        <p:spPr>
          <a:xfrm>
            <a:off x="10954512" y="3813048"/>
            <a:ext cx="502920" cy="329184"/>
          </a:xfrm>
          <a:prstGeom prst="rect">
            <a:avLst/>
          </a:prstGeom>
          <a:solidFill>
            <a:srgbClr val="0E7C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endParaRPr lang="en-US" sz="950" dirty="0"/>
          </a:p>
        </p:txBody>
      </p:sp>
      <p:sp>
        <p:nvSpPr>
          <p:cNvPr id="62" name="Shape 48"/>
          <p:cNvSpPr/>
          <p:nvPr/>
        </p:nvSpPr>
        <p:spPr>
          <a:xfrm>
            <a:off x="8333232" y="4270248"/>
            <a:ext cx="365760" cy="365760"/>
          </a:xfrm>
          <a:prstGeom prst="ellipse">
            <a:avLst/>
          </a:prstGeom>
          <a:solidFill>
            <a:srgbClr val="EFF6F7"/>
          </a:solidFill>
          <a:ln w="9525">
            <a:solidFill>
              <a:srgbClr val="D7E4EA"/>
            </a:solidFill>
            <a:prstDash val="solid"/>
          </a:ln>
        </p:spPr>
      </p:sp>
      <p:pic>
        <p:nvPicPr>
          <p:cNvPr id="63" name="Image 12" descr="db_csv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20100" y="4347972"/>
            <a:ext cx="210312" cy="210312"/>
          </a:xfrm>
          <a:prstGeom prst="rect">
            <a:avLst/>
          </a:prstGeom>
        </p:spPr>
      </p:pic>
      <p:sp>
        <p:nvSpPr>
          <p:cNvPr id="64" name="Text 49"/>
          <p:cNvSpPr/>
          <p:nvPr/>
        </p:nvSpPr>
        <p:spPr>
          <a:xfrm>
            <a:off x="8827008" y="4242816"/>
            <a:ext cx="2154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Dataset</a:t>
            </a:r>
            <a:endParaRPr lang="en-US" sz="1150" dirty="0"/>
          </a:p>
        </p:txBody>
      </p:sp>
      <p:sp>
        <p:nvSpPr>
          <p:cNvPr id="65" name="Text 50"/>
          <p:cNvSpPr/>
          <p:nvPr/>
        </p:nvSpPr>
        <p:spPr>
          <a:xfrm>
            <a:off x="10954512" y="4288536"/>
            <a:ext cx="502920" cy="329184"/>
          </a:xfrm>
          <a:prstGeom prst="rect">
            <a:avLst/>
          </a:prstGeom>
          <a:solidFill>
            <a:srgbClr val="0E7C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CSV</a:t>
            </a:r>
            <a:endParaRPr lang="en-US" sz="950" dirty="0"/>
          </a:p>
        </p:txBody>
      </p:sp>
      <p:sp>
        <p:nvSpPr>
          <p:cNvPr id="66" name="Shape 51"/>
          <p:cNvSpPr/>
          <p:nvPr/>
        </p:nvSpPr>
        <p:spPr>
          <a:xfrm>
            <a:off x="8333232" y="4745736"/>
            <a:ext cx="365760" cy="365760"/>
          </a:xfrm>
          <a:prstGeom prst="ellipse">
            <a:avLst/>
          </a:prstGeom>
          <a:solidFill>
            <a:srgbClr val="EFF6F7"/>
          </a:solidFill>
          <a:ln w="9525">
            <a:solidFill>
              <a:srgbClr val="D7E4EA"/>
            </a:solidFill>
            <a:prstDash val="solid"/>
          </a:ln>
        </p:spPr>
      </p:sp>
      <p:pic>
        <p:nvPicPr>
          <p:cNvPr id="67" name="Image 13" descr="db_xlsx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20100" y="4823460"/>
            <a:ext cx="210312" cy="210312"/>
          </a:xfrm>
          <a:prstGeom prst="rect">
            <a:avLst/>
          </a:prstGeom>
        </p:spPr>
      </p:pic>
      <p:sp>
        <p:nvSpPr>
          <p:cNvPr id="68" name="Text 52"/>
          <p:cNvSpPr/>
          <p:nvPr/>
        </p:nvSpPr>
        <p:spPr>
          <a:xfrm>
            <a:off x="8827008" y="4718304"/>
            <a:ext cx="2154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Dataset</a:t>
            </a:r>
            <a:endParaRPr lang="en-US" sz="1150" dirty="0"/>
          </a:p>
        </p:txBody>
      </p:sp>
      <p:sp>
        <p:nvSpPr>
          <p:cNvPr id="69" name="Text 53"/>
          <p:cNvSpPr/>
          <p:nvPr/>
        </p:nvSpPr>
        <p:spPr>
          <a:xfrm>
            <a:off x="10954512" y="4764024"/>
            <a:ext cx="502920" cy="329184"/>
          </a:xfrm>
          <a:prstGeom prst="rect">
            <a:avLst/>
          </a:prstGeom>
          <a:solidFill>
            <a:srgbClr val="0E7C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XLSX</a:t>
            </a:r>
            <a:endParaRPr lang="en-US" sz="950" dirty="0"/>
          </a:p>
        </p:txBody>
      </p:sp>
      <p:sp>
        <p:nvSpPr>
          <p:cNvPr id="70" name="Shape 54"/>
          <p:cNvSpPr/>
          <p:nvPr/>
        </p:nvSpPr>
        <p:spPr>
          <a:xfrm>
            <a:off x="8333232" y="5221224"/>
            <a:ext cx="365760" cy="365760"/>
          </a:xfrm>
          <a:prstGeom prst="ellipse">
            <a:avLst/>
          </a:prstGeom>
          <a:solidFill>
            <a:srgbClr val="EFF6F7"/>
          </a:solidFill>
          <a:ln w="9525">
            <a:solidFill>
              <a:srgbClr val="D7E4EA"/>
            </a:solidFill>
            <a:prstDash val="solid"/>
          </a:ln>
        </p:spPr>
      </p:sp>
      <p:pic>
        <p:nvPicPr>
          <p:cNvPr id="71" name="Image 14" descr="db_pdf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20100" y="5298948"/>
            <a:ext cx="210312" cy="210312"/>
          </a:xfrm>
          <a:prstGeom prst="rect">
            <a:avLst/>
          </a:prstGeom>
        </p:spPr>
      </p:pic>
      <p:sp>
        <p:nvSpPr>
          <p:cNvPr id="72" name="Text 55"/>
          <p:cNvSpPr/>
          <p:nvPr/>
        </p:nvSpPr>
        <p:spPr>
          <a:xfrm>
            <a:off x="8827008" y="5193792"/>
            <a:ext cx="2154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 Dataset</a:t>
            </a:r>
            <a:endParaRPr lang="en-US" sz="1150" dirty="0"/>
          </a:p>
        </p:txBody>
      </p:sp>
      <p:sp>
        <p:nvSpPr>
          <p:cNvPr id="73" name="Text 56"/>
          <p:cNvSpPr/>
          <p:nvPr/>
        </p:nvSpPr>
        <p:spPr>
          <a:xfrm>
            <a:off x="10954512" y="5239512"/>
            <a:ext cx="502920" cy="329184"/>
          </a:xfrm>
          <a:prstGeom prst="rect">
            <a:avLst/>
          </a:prstGeom>
          <a:solidFill>
            <a:srgbClr val="0E7C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PDF</a:t>
            </a:r>
            <a:endParaRPr lang="en-US" sz="950" dirty="0"/>
          </a:p>
        </p:txBody>
      </p:sp>
      <p:sp>
        <p:nvSpPr>
          <p:cNvPr id="74" name="Text 57"/>
          <p:cNvSpPr/>
          <p:nvPr/>
        </p:nvSpPr>
        <p:spPr>
          <a:xfrm>
            <a:off x="8333232" y="5650992"/>
            <a:ext cx="3087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flat-file datasets — Database Integration is planned (see Future Scope).</a:t>
            </a:r>
            <a:endParaRPr lang="en-US" sz="950" dirty="0"/>
          </a:p>
        </p:txBody>
      </p:sp>
      <p:sp>
        <p:nvSpPr>
          <p:cNvPr id="75" name="Text 58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6" name="Text 5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 System for Academic Assistance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E8873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BEHIND IT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20624" y="566928"/>
            <a:ext cx="7863840" cy="713232"/>
          </a:xfrm>
          <a:prstGeom prst="roundRect">
            <a:avLst>
              <a:gd name="adj" fmla="val 12821"/>
            </a:avLst>
          </a:prstGeom>
          <a:solidFill>
            <a:srgbClr val="E3F3F3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566928"/>
            <a:ext cx="7589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353312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10-member academic project team — collaborative design, development &amp; documentation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2028139" cy="2029968"/>
          </a:xfrm>
          <a:prstGeom prst="roundRect">
            <a:avLst>
              <a:gd name="adj" fmla="val 5410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28370" y="2148840"/>
            <a:ext cx="868680" cy="86868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9" name="Image 0" descr="icon_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2106" y="2322576"/>
            <a:ext cx="521208" cy="5212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3145536"/>
            <a:ext cx="180868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Jidnyasa Sanjay Thakare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58368" y="3593592"/>
            <a:ext cx="18086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814523" y="1874520"/>
            <a:ext cx="2028139" cy="2029968"/>
          </a:xfrm>
          <a:prstGeom prst="roundRect">
            <a:avLst>
              <a:gd name="adj" fmla="val 5410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94253" y="214884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icon_us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7989" y="2322576"/>
            <a:ext cx="521208" cy="5212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924251" y="3145536"/>
            <a:ext cx="180868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Shruti Dinesh Yadav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2924251" y="3593592"/>
            <a:ext cx="18086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5080406" y="1874520"/>
            <a:ext cx="2028139" cy="2029968"/>
          </a:xfrm>
          <a:prstGeom prst="roundRect">
            <a:avLst>
              <a:gd name="adj" fmla="val 5410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660136" y="2148840"/>
            <a:ext cx="868680" cy="868680"/>
          </a:xfrm>
          <a:prstGeom prst="ellipse">
            <a:avLst/>
          </a:prstGeom>
          <a:solidFill>
            <a:srgbClr val="E8873A"/>
          </a:solidFill>
          <a:ln/>
        </p:spPr>
      </p:sp>
      <p:pic>
        <p:nvPicPr>
          <p:cNvPr id="19" name="Image 2" descr="icon_us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872" y="2322576"/>
            <a:ext cx="521208" cy="5212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190134" y="3145536"/>
            <a:ext cx="180868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Anshika Bhat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5190134" y="3593592"/>
            <a:ext cx="18086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7346290" y="1874520"/>
            <a:ext cx="2028139" cy="2029968"/>
          </a:xfrm>
          <a:prstGeom prst="roundRect">
            <a:avLst>
              <a:gd name="adj" fmla="val 5410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926019" y="2148840"/>
            <a:ext cx="868680" cy="86868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24" name="Image 3" descr="icon_us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9755" y="2322576"/>
            <a:ext cx="521208" cy="5212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56018" y="3145536"/>
            <a:ext cx="180868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Vidhisha Gaikwad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7456018" y="3593592"/>
            <a:ext cx="18086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9612173" y="1874520"/>
            <a:ext cx="2028139" cy="2029968"/>
          </a:xfrm>
          <a:prstGeom prst="roundRect">
            <a:avLst>
              <a:gd name="adj" fmla="val 5410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10191902" y="2148840"/>
            <a:ext cx="868680" cy="86868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29" name="Image 4" descr="icon_us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5638" y="2322576"/>
            <a:ext cx="521208" cy="52120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721901" y="3145536"/>
            <a:ext cx="180868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 Gawande</a:t>
            </a:r>
            <a:endParaRPr lang="en-US" sz="1150" dirty="0"/>
          </a:p>
        </p:txBody>
      </p:sp>
      <p:sp>
        <p:nvSpPr>
          <p:cNvPr id="31" name="Text 24"/>
          <p:cNvSpPr/>
          <p:nvPr/>
        </p:nvSpPr>
        <p:spPr>
          <a:xfrm>
            <a:off x="9721901" y="3593592"/>
            <a:ext cx="18086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548640" y="4142232"/>
            <a:ext cx="2028139" cy="2029968"/>
          </a:xfrm>
          <a:prstGeom prst="roundRect">
            <a:avLst>
              <a:gd name="adj" fmla="val 5410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1128370" y="4416552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4" name="Image 5" descr="icon_us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2106" y="4590288"/>
            <a:ext cx="521208" cy="52120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58368" y="5413248"/>
            <a:ext cx="180868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Nikita Thakre</a:t>
            </a:r>
            <a:endParaRPr lang="en-US" sz="1150" dirty="0"/>
          </a:p>
        </p:txBody>
      </p:sp>
      <p:sp>
        <p:nvSpPr>
          <p:cNvPr id="36" name="Text 28"/>
          <p:cNvSpPr/>
          <p:nvPr/>
        </p:nvSpPr>
        <p:spPr>
          <a:xfrm>
            <a:off x="658368" y="5861304"/>
            <a:ext cx="18086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900" dirty="0"/>
          </a:p>
        </p:txBody>
      </p:sp>
      <p:sp>
        <p:nvSpPr>
          <p:cNvPr id="37" name="Shape 29"/>
          <p:cNvSpPr/>
          <p:nvPr/>
        </p:nvSpPr>
        <p:spPr>
          <a:xfrm>
            <a:off x="2814523" y="4142232"/>
            <a:ext cx="2028139" cy="2029968"/>
          </a:xfrm>
          <a:prstGeom prst="roundRect">
            <a:avLst>
              <a:gd name="adj" fmla="val 5410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3394253" y="4416552"/>
            <a:ext cx="868680" cy="868680"/>
          </a:xfrm>
          <a:prstGeom prst="ellipse">
            <a:avLst/>
          </a:prstGeom>
          <a:solidFill>
            <a:srgbClr val="E8873A"/>
          </a:solidFill>
          <a:ln/>
        </p:spPr>
      </p:sp>
      <p:pic>
        <p:nvPicPr>
          <p:cNvPr id="39" name="Image 6" descr="icon_us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7989" y="4590288"/>
            <a:ext cx="521208" cy="521208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2924251" y="5413248"/>
            <a:ext cx="180868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Tanishka</a:t>
            </a:r>
            <a:endParaRPr lang="en-US" sz="1150" dirty="0"/>
          </a:p>
        </p:txBody>
      </p:sp>
      <p:sp>
        <p:nvSpPr>
          <p:cNvPr id="41" name="Text 32"/>
          <p:cNvSpPr/>
          <p:nvPr/>
        </p:nvSpPr>
        <p:spPr>
          <a:xfrm>
            <a:off x="2924251" y="5861304"/>
            <a:ext cx="18086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900" dirty="0"/>
          </a:p>
        </p:txBody>
      </p:sp>
      <p:sp>
        <p:nvSpPr>
          <p:cNvPr id="42" name="Shape 33"/>
          <p:cNvSpPr/>
          <p:nvPr/>
        </p:nvSpPr>
        <p:spPr>
          <a:xfrm>
            <a:off x="5080406" y="4142232"/>
            <a:ext cx="2028139" cy="2029968"/>
          </a:xfrm>
          <a:prstGeom prst="roundRect">
            <a:avLst>
              <a:gd name="adj" fmla="val 5410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43" name="Shape 34"/>
          <p:cNvSpPr/>
          <p:nvPr/>
        </p:nvSpPr>
        <p:spPr>
          <a:xfrm>
            <a:off x="5660136" y="4416552"/>
            <a:ext cx="868680" cy="86868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44" name="Image 7" descr="icon_us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33872" y="4590288"/>
            <a:ext cx="521208" cy="521208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5190134" y="5413248"/>
            <a:ext cx="180868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</a:t>
            </a:r>
            <a:endParaRPr lang="en-US" sz="1150" dirty="0"/>
          </a:p>
        </p:txBody>
      </p:sp>
      <p:sp>
        <p:nvSpPr>
          <p:cNvPr id="46" name="Text 36"/>
          <p:cNvSpPr/>
          <p:nvPr/>
        </p:nvSpPr>
        <p:spPr>
          <a:xfrm>
            <a:off x="5190134" y="5861304"/>
            <a:ext cx="18086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900" dirty="0"/>
          </a:p>
        </p:txBody>
      </p:sp>
      <p:sp>
        <p:nvSpPr>
          <p:cNvPr id="47" name="Shape 37"/>
          <p:cNvSpPr/>
          <p:nvPr/>
        </p:nvSpPr>
        <p:spPr>
          <a:xfrm>
            <a:off x="7346290" y="4142232"/>
            <a:ext cx="2028139" cy="2029968"/>
          </a:xfrm>
          <a:prstGeom prst="roundRect">
            <a:avLst>
              <a:gd name="adj" fmla="val 5410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48" name="Shape 38"/>
          <p:cNvSpPr/>
          <p:nvPr/>
        </p:nvSpPr>
        <p:spPr>
          <a:xfrm>
            <a:off x="7926019" y="4416552"/>
            <a:ext cx="868680" cy="86868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49" name="Image 8" descr="icon_use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9755" y="4590288"/>
            <a:ext cx="521208" cy="521208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7456018" y="5413248"/>
            <a:ext cx="180868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Neha Vishe</a:t>
            </a:r>
            <a:endParaRPr lang="en-US" sz="1150" dirty="0"/>
          </a:p>
        </p:txBody>
      </p:sp>
      <p:sp>
        <p:nvSpPr>
          <p:cNvPr id="51" name="Text 40"/>
          <p:cNvSpPr/>
          <p:nvPr/>
        </p:nvSpPr>
        <p:spPr>
          <a:xfrm>
            <a:off x="7456018" y="5861304"/>
            <a:ext cx="18086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900" dirty="0"/>
          </a:p>
        </p:txBody>
      </p:sp>
      <p:sp>
        <p:nvSpPr>
          <p:cNvPr id="52" name="Shape 41"/>
          <p:cNvSpPr/>
          <p:nvPr/>
        </p:nvSpPr>
        <p:spPr>
          <a:xfrm>
            <a:off x="9612173" y="4142232"/>
            <a:ext cx="2028139" cy="2029968"/>
          </a:xfrm>
          <a:prstGeom prst="roundRect">
            <a:avLst>
              <a:gd name="adj" fmla="val 5410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53" name="Shape 42"/>
          <p:cNvSpPr/>
          <p:nvPr/>
        </p:nvSpPr>
        <p:spPr>
          <a:xfrm>
            <a:off x="10191902" y="4416552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4" name="Image 9" descr="icon_use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65638" y="4590288"/>
            <a:ext cx="521208" cy="521208"/>
          </a:xfrm>
          <a:prstGeom prst="rect">
            <a:avLst/>
          </a:prstGeom>
        </p:spPr>
      </p:pic>
      <p:sp>
        <p:nvSpPr>
          <p:cNvPr id="55" name="Text 43"/>
          <p:cNvSpPr/>
          <p:nvPr/>
        </p:nvSpPr>
        <p:spPr>
          <a:xfrm>
            <a:off x="9721901" y="5413248"/>
            <a:ext cx="180868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Tanisha Shejwal</a:t>
            </a:r>
            <a:endParaRPr lang="en-US" sz="1150" dirty="0"/>
          </a:p>
        </p:txBody>
      </p:sp>
      <p:sp>
        <p:nvSpPr>
          <p:cNvPr id="56" name="Text 44"/>
          <p:cNvSpPr/>
          <p:nvPr/>
        </p:nvSpPr>
        <p:spPr>
          <a:xfrm>
            <a:off x="9721901" y="5861304"/>
            <a:ext cx="18086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900" dirty="0"/>
          </a:p>
        </p:txBody>
      </p:sp>
      <p:sp>
        <p:nvSpPr>
          <p:cNvPr id="57" name="Text 45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8" name="Text 4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 System for Academic Assistance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E8873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20624" y="566928"/>
            <a:ext cx="7863840" cy="713232"/>
          </a:xfrm>
          <a:prstGeom prst="roundRect">
            <a:avLst>
              <a:gd name="adj" fmla="val 12821"/>
            </a:avLst>
          </a:prstGeom>
          <a:solidFill>
            <a:srgbClr val="E3F3F3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566928"/>
            <a:ext cx="7589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Architecture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353312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 — how a student query flows through the platform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737360" cy="868680"/>
          </a:xfrm>
          <a:prstGeom prst="roundRect">
            <a:avLst>
              <a:gd name="adj" fmla="val 12632"/>
            </a:avLst>
          </a:prstGeom>
          <a:solidFill>
            <a:srgbClr val="13294B"/>
          </a:solidFill>
          <a:ln/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075688"/>
            <a:ext cx="365760" cy="365760"/>
          </a:xfrm>
          <a:prstGeom prst="ellipse">
            <a:avLst/>
          </a:prstGeom>
          <a:solidFill>
            <a:srgbClr val="1A3866"/>
          </a:solidFill>
          <a:ln/>
        </p:spPr>
      </p:sp>
      <p:pic>
        <p:nvPicPr>
          <p:cNvPr id="9" name="Image 0" descr="icon_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7202" y="2134210"/>
            <a:ext cx="248717" cy="24871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24231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(Web UI)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359152" y="2267712"/>
            <a:ext cx="384048" cy="274320"/>
          </a:xfrm>
          <a:prstGeom prst="rightArrow">
            <a:avLst/>
          </a:prstGeom>
          <a:solidFill>
            <a:srgbClr val="0E7C86"/>
          </a:solidFill>
          <a:ln/>
        </p:spPr>
      </p:sp>
      <p:sp>
        <p:nvSpPr>
          <p:cNvPr id="12" name="Shape 9"/>
          <p:cNvSpPr/>
          <p:nvPr/>
        </p:nvSpPr>
        <p:spPr>
          <a:xfrm>
            <a:off x="2816352" y="1965960"/>
            <a:ext cx="1828800" cy="868680"/>
          </a:xfrm>
          <a:prstGeom prst="roundRect">
            <a:avLst>
              <a:gd name="adj" fmla="val 12632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54680" y="2075688"/>
            <a:ext cx="365760" cy="365760"/>
          </a:xfrm>
          <a:prstGeom prst="ellipse">
            <a:avLst/>
          </a:prstGeom>
          <a:solidFill>
            <a:srgbClr val="155A70"/>
          </a:solidFill>
          <a:ln/>
        </p:spPr>
      </p:sp>
      <p:pic>
        <p:nvPicPr>
          <p:cNvPr id="14" name="Image 1" descr="icon_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202" y="2134210"/>
            <a:ext cx="248717" cy="24871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816352" y="24231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700016" y="2267712"/>
            <a:ext cx="384048" cy="274320"/>
          </a:xfrm>
          <a:prstGeom prst="rightArrow">
            <a:avLst/>
          </a:prstGeom>
          <a:solidFill>
            <a:srgbClr val="0E7C86"/>
          </a:solidFill>
          <a:ln/>
        </p:spPr>
      </p:sp>
      <p:sp>
        <p:nvSpPr>
          <p:cNvPr id="17" name="Shape 13"/>
          <p:cNvSpPr/>
          <p:nvPr/>
        </p:nvSpPr>
        <p:spPr>
          <a:xfrm>
            <a:off x="5157216" y="1965960"/>
            <a:ext cx="1965960" cy="868680"/>
          </a:xfrm>
          <a:prstGeom prst="roundRect">
            <a:avLst>
              <a:gd name="adj" fmla="val 12632"/>
            </a:avLst>
          </a:prstGeom>
          <a:solidFill>
            <a:srgbClr val="0E7C86"/>
          </a:solidFill>
          <a:ln/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522976" y="2075688"/>
            <a:ext cx="365760" cy="365760"/>
          </a:xfrm>
          <a:prstGeom prst="ellipse">
            <a:avLst/>
          </a:prstGeom>
          <a:solidFill>
            <a:srgbClr val="0A5E66"/>
          </a:solidFill>
          <a:ln/>
        </p:spPr>
      </p:sp>
      <p:pic>
        <p:nvPicPr>
          <p:cNvPr id="19" name="Image 2" descr="icon_ser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1498" y="2134210"/>
            <a:ext cx="248717" cy="24871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157216" y="242316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REST 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(app.py)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7260336" y="2267712"/>
            <a:ext cx="384048" cy="274320"/>
          </a:xfrm>
          <a:prstGeom prst="rightArrow">
            <a:avLst/>
          </a:prstGeom>
          <a:solidFill>
            <a:srgbClr val="0E7C86"/>
          </a:solidFill>
          <a:ln/>
        </p:spPr>
      </p:sp>
      <p:sp>
        <p:nvSpPr>
          <p:cNvPr id="22" name="Shape 17"/>
          <p:cNvSpPr/>
          <p:nvPr/>
        </p:nvSpPr>
        <p:spPr>
          <a:xfrm>
            <a:off x="7717536" y="1965960"/>
            <a:ext cx="2148840" cy="868680"/>
          </a:xfrm>
          <a:prstGeom prst="roundRect">
            <a:avLst>
              <a:gd name="adj" fmla="val 12632"/>
            </a:avLst>
          </a:prstGeom>
          <a:solidFill>
            <a:srgbClr val="13294B"/>
          </a:solidFill>
          <a:ln/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110728" y="2075688"/>
            <a:ext cx="365760" cy="365760"/>
          </a:xfrm>
          <a:prstGeom prst="ellipse">
            <a:avLst/>
          </a:prstGeom>
          <a:solidFill>
            <a:srgbClr val="1A3866"/>
          </a:solidFill>
          <a:ln/>
        </p:spPr>
      </p:sp>
      <p:pic>
        <p:nvPicPr>
          <p:cNvPr id="24" name="Image 3" descr="icon_netwo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9250" y="2134210"/>
            <a:ext cx="248717" cy="24871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717536" y="242316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Router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(Multi-Agent Core)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8791956" y="2834640"/>
            <a:ext cx="0" cy="45720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2007108" y="3291840"/>
            <a:ext cx="8174736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2007108" y="3291840"/>
            <a:ext cx="0" cy="13716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772668" y="3429000"/>
            <a:ext cx="24688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937260" y="361188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31" name="Image 4" descr="icon_faq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078" y="3752698"/>
            <a:ext cx="221285" cy="221285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549908" y="355701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Agent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1549908" y="384962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71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faq_agent.py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4732020" y="3291840"/>
            <a:ext cx="0" cy="13716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3497580" y="3429000"/>
            <a:ext cx="24688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3662172" y="361188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37" name="Image 5" descr="icon_cours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2990" y="3752698"/>
            <a:ext cx="221285" cy="221285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4274820" y="355701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Agent</a:t>
            </a:r>
            <a:endParaRPr lang="en-US" sz="1250" dirty="0"/>
          </a:p>
        </p:txBody>
      </p:sp>
      <p:sp>
        <p:nvSpPr>
          <p:cNvPr id="39" name="Text 31"/>
          <p:cNvSpPr/>
          <p:nvPr/>
        </p:nvSpPr>
        <p:spPr>
          <a:xfrm>
            <a:off x="4274820" y="384962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71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course_agent.py</a:t>
            </a:r>
            <a:endParaRPr lang="en-US" sz="950" dirty="0"/>
          </a:p>
        </p:txBody>
      </p:sp>
      <p:sp>
        <p:nvSpPr>
          <p:cNvPr id="40" name="Shape 32"/>
          <p:cNvSpPr/>
          <p:nvPr/>
        </p:nvSpPr>
        <p:spPr>
          <a:xfrm>
            <a:off x="7456932" y="3291840"/>
            <a:ext cx="0" cy="13716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6222492" y="3429000"/>
            <a:ext cx="24688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6387084" y="361188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43" name="Image 6" descr="icon_studen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7902" y="3752698"/>
            <a:ext cx="221285" cy="221285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6999732" y="355701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Agent</a:t>
            </a:r>
            <a:endParaRPr lang="en-US" sz="1250" dirty="0"/>
          </a:p>
        </p:txBody>
      </p:sp>
      <p:sp>
        <p:nvSpPr>
          <p:cNvPr id="45" name="Text 36"/>
          <p:cNvSpPr/>
          <p:nvPr/>
        </p:nvSpPr>
        <p:spPr>
          <a:xfrm>
            <a:off x="6999732" y="384962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71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student_agent.py</a:t>
            </a:r>
            <a:endParaRPr lang="en-US" sz="950" dirty="0"/>
          </a:p>
        </p:txBody>
      </p:sp>
      <p:sp>
        <p:nvSpPr>
          <p:cNvPr id="46" name="Shape 37"/>
          <p:cNvSpPr/>
          <p:nvPr/>
        </p:nvSpPr>
        <p:spPr>
          <a:xfrm>
            <a:off x="10181844" y="3291840"/>
            <a:ext cx="0" cy="13716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</p:sp>
      <p:sp>
        <p:nvSpPr>
          <p:cNvPr id="47" name="Shape 38"/>
          <p:cNvSpPr/>
          <p:nvPr/>
        </p:nvSpPr>
        <p:spPr>
          <a:xfrm>
            <a:off x="8947404" y="3429000"/>
            <a:ext cx="24688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48" name="Shape 39"/>
          <p:cNvSpPr/>
          <p:nvPr/>
        </p:nvSpPr>
        <p:spPr>
          <a:xfrm>
            <a:off x="9111996" y="361188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49" name="Image 7" descr="icon_syllabu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52814" y="3752698"/>
            <a:ext cx="221285" cy="221285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9724644" y="355701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 Agent</a:t>
            </a:r>
            <a:endParaRPr lang="en-US" sz="1250" dirty="0"/>
          </a:p>
        </p:txBody>
      </p:sp>
      <p:sp>
        <p:nvSpPr>
          <p:cNvPr id="51" name="Text 41"/>
          <p:cNvSpPr/>
          <p:nvPr/>
        </p:nvSpPr>
        <p:spPr>
          <a:xfrm>
            <a:off x="9724644" y="384962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71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syllabus_agent.py</a:t>
            </a:r>
            <a:endParaRPr lang="en-US" sz="950" dirty="0"/>
          </a:p>
        </p:txBody>
      </p:sp>
      <p:sp>
        <p:nvSpPr>
          <p:cNvPr id="52" name="Shape 42"/>
          <p:cNvSpPr/>
          <p:nvPr/>
        </p:nvSpPr>
        <p:spPr>
          <a:xfrm>
            <a:off x="6094476" y="4343400"/>
            <a:ext cx="0" cy="22860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</p:sp>
      <p:sp>
        <p:nvSpPr>
          <p:cNvPr id="53" name="Shape 43"/>
          <p:cNvSpPr/>
          <p:nvPr/>
        </p:nvSpPr>
        <p:spPr>
          <a:xfrm>
            <a:off x="548640" y="457200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54" name="Shape 44"/>
          <p:cNvSpPr/>
          <p:nvPr/>
        </p:nvSpPr>
        <p:spPr>
          <a:xfrm>
            <a:off x="777240" y="4782312"/>
            <a:ext cx="365760" cy="365760"/>
          </a:xfrm>
          <a:prstGeom prst="ellipse">
            <a:avLst/>
          </a:prstGeom>
          <a:solidFill>
            <a:srgbClr val="155A70"/>
          </a:solidFill>
          <a:ln/>
        </p:spPr>
      </p:sp>
      <p:pic>
        <p:nvPicPr>
          <p:cNvPr id="55" name="Image 8" descr="icon_databas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5762" y="4840834"/>
            <a:ext cx="248717" cy="248717"/>
          </a:xfrm>
          <a:prstGeom prst="rect">
            <a:avLst/>
          </a:prstGeom>
        </p:spPr>
      </p:pic>
      <p:sp>
        <p:nvSpPr>
          <p:cNvPr id="56" name="Text 45"/>
          <p:cNvSpPr/>
          <p:nvPr/>
        </p:nvSpPr>
        <p:spPr>
          <a:xfrm>
            <a:off x="1280160" y="45720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   </a:t>
            </a:r>
            <a:pPr indent="0" marL="0">
              <a:buNone/>
            </a:pPr>
            <a:r>
              <a:rPr lang="en-US" sz="1250" dirty="0">
                <a:solidFill>
                  <a:srgbClr val="E4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(JSON)   •   Students (CSV)   •   Courses (XLSX)   •   Syllabus (PDF)</a:t>
            </a:r>
            <a:endParaRPr lang="en-US" sz="1250" dirty="0"/>
          </a:p>
        </p:txBody>
      </p:sp>
      <p:sp>
        <p:nvSpPr>
          <p:cNvPr id="57" name="Text 46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8" name="Text 4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 System for Academic Assistance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E8873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20624" y="566928"/>
            <a:ext cx="7863840" cy="713232"/>
          </a:xfrm>
          <a:prstGeom prst="roundRect">
            <a:avLst>
              <a:gd name="adj" fmla="val 12821"/>
            </a:avLst>
          </a:prstGeom>
          <a:solidFill>
            <a:srgbClr val="E3F3F3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566928"/>
            <a:ext cx="7589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in Detail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353312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view of the system and the lifecycle of a single request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60350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130552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9" name="Image 0" descr="icon_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258568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19933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371600" y="230428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 chat interface for student interaction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960120" y="2834640"/>
            <a:ext cx="0" cy="18288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3017520"/>
            <a:ext cx="60350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1" descr="icon_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3401568"/>
            <a:ext cx="201168" cy="2011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371600" y="31363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371600" y="344728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REST API — routes requests, returns JSON responses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960120" y="3977640"/>
            <a:ext cx="0" cy="18288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48640" y="4160520"/>
            <a:ext cx="60350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31520" y="4416552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21" name="Image 2" descr="icon_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4544568"/>
            <a:ext cx="201168" cy="20116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371600" y="42793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Layer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371600" y="459028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FAQ, Course, Student &amp; Syllabus agents reason independently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960120" y="5120640"/>
            <a:ext cx="0" cy="18288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48640" y="5303520"/>
            <a:ext cx="60350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31520" y="555955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7" name="Image 3" descr="icon_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5687568"/>
            <a:ext cx="201168" cy="20116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371600" y="54223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1371600" y="573328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JSON, CSV, XLSX &amp; PDF datasets under data/cleaned/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6903720" y="1856232"/>
            <a:ext cx="4736592" cy="5349240"/>
          </a:xfrm>
          <a:prstGeom prst="roundRect">
            <a:avLst>
              <a:gd name="adj" fmla="val 1931"/>
            </a:avLst>
          </a:prstGeom>
          <a:solidFill>
            <a:srgbClr val="13294B"/>
          </a:solidFill>
          <a:ln/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31" name="Text 25"/>
          <p:cNvSpPr/>
          <p:nvPr/>
        </p:nvSpPr>
        <p:spPr>
          <a:xfrm>
            <a:off x="7223760" y="2057400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Lifecycle</a:t>
            </a:r>
            <a:endParaRPr lang="en-US" sz="1600" dirty="0"/>
          </a:p>
        </p:txBody>
      </p:sp>
      <p:sp>
        <p:nvSpPr>
          <p:cNvPr id="32" name="Shape 26"/>
          <p:cNvSpPr/>
          <p:nvPr/>
        </p:nvSpPr>
        <p:spPr>
          <a:xfrm>
            <a:off x="7223760" y="2560320"/>
            <a:ext cx="365760" cy="365760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33" name="Text 27"/>
          <p:cNvSpPr/>
          <p:nvPr/>
        </p:nvSpPr>
        <p:spPr>
          <a:xfrm>
            <a:off x="722376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4" name="Shape 28"/>
          <p:cNvSpPr/>
          <p:nvPr/>
        </p:nvSpPr>
        <p:spPr>
          <a:xfrm>
            <a:off x="7406640" y="2926080"/>
            <a:ext cx="0" cy="502920"/>
          </a:xfrm>
          <a:prstGeom prst="line">
            <a:avLst/>
          </a:prstGeom>
          <a:noFill/>
          <a:ln w="19050">
            <a:solidFill>
              <a:srgbClr val="3E5C86"/>
            </a:solidFill>
            <a:prstDash val="dash"/>
          </a:ln>
        </p:spPr>
      </p:sp>
      <p:sp>
        <p:nvSpPr>
          <p:cNvPr id="35" name="Text 29"/>
          <p:cNvSpPr/>
          <p:nvPr/>
        </p:nvSpPr>
        <p:spPr>
          <a:xfrm>
            <a:off x="7744968" y="2523744"/>
            <a:ext cx="3593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submits a question through the web chat interface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7223760" y="3429000"/>
            <a:ext cx="365760" cy="365760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37" name="Text 31"/>
          <p:cNvSpPr/>
          <p:nvPr/>
        </p:nvSpPr>
        <p:spPr>
          <a:xfrm>
            <a:off x="722376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8" name="Shape 32"/>
          <p:cNvSpPr/>
          <p:nvPr/>
        </p:nvSpPr>
        <p:spPr>
          <a:xfrm>
            <a:off x="7406640" y="3794760"/>
            <a:ext cx="0" cy="502920"/>
          </a:xfrm>
          <a:prstGeom prst="line">
            <a:avLst/>
          </a:prstGeom>
          <a:noFill/>
          <a:ln w="19050">
            <a:solidFill>
              <a:srgbClr val="3E5C86"/>
            </a:solidFill>
            <a:prstDash val="dash"/>
          </a:ln>
        </p:spPr>
      </p:sp>
      <p:sp>
        <p:nvSpPr>
          <p:cNvPr id="39" name="Text 33"/>
          <p:cNvSpPr/>
          <p:nvPr/>
        </p:nvSpPr>
        <p:spPr>
          <a:xfrm>
            <a:off x="7744968" y="3392424"/>
            <a:ext cx="3593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 receives the request at a REST endpoint</a:t>
            </a:r>
            <a:endParaRPr 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7223760" y="4297680"/>
            <a:ext cx="365760" cy="365760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41" name="Text 35"/>
          <p:cNvSpPr/>
          <p:nvPr/>
        </p:nvSpPr>
        <p:spPr>
          <a:xfrm>
            <a:off x="722376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2" name="Shape 36"/>
          <p:cNvSpPr/>
          <p:nvPr/>
        </p:nvSpPr>
        <p:spPr>
          <a:xfrm>
            <a:off x="7406640" y="4663440"/>
            <a:ext cx="0" cy="502920"/>
          </a:xfrm>
          <a:prstGeom prst="line">
            <a:avLst/>
          </a:prstGeom>
          <a:noFill/>
          <a:ln w="19050">
            <a:solidFill>
              <a:srgbClr val="3E5C86"/>
            </a:solidFill>
            <a:prstDash val="dash"/>
          </a:ln>
        </p:spPr>
      </p:sp>
      <p:sp>
        <p:nvSpPr>
          <p:cNvPr id="43" name="Text 37"/>
          <p:cNvSpPr/>
          <p:nvPr/>
        </p:nvSpPr>
        <p:spPr>
          <a:xfrm>
            <a:off x="7744968" y="4261104"/>
            <a:ext cx="3593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inspects intent and dispatches to the matching agent</a:t>
            </a:r>
            <a:endParaRPr lang="en-US" sz="1100" dirty="0"/>
          </a:p>
        </p:txBody>
      </p:sp>
      <p:sp>
        <p:nvSpPr>
          <p:cNvPr id="44" name="Shape 38"/>
          <p:cNvSpPr/>
          <p:nvPr/>
        </p:nvSpPr>
        <p:spPr>
          <a:xfrm>
            <a:off x="7223760" y="5166360"/>
            <a:ext cx="365760" cy="365760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45" name="Text 39"/>
          <p:cNvSpPr/>
          <p:nvPr/>
        </p:nvSpPr>
        <p:spPr>
          <a:xfrm>
            <a:off x="7223760" y="5166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6" name="Shape 40"/>
          <p:cNvSpPr/>
          <p:nvPr/>
        </p:nvSpPr>
        <p:spPr>
          <a:xfrm>
            <a:off x="7406640" y="5532120"/>
            <a:ext cx="0" cy="502920"/>
          </a:xfrm>
          <a:prstGeom prst="line">
            <a:avLst/>
          </a:prstGeom>
          <a:noFill/>
          <a:ln w="19050">
            <a:solidFill>
              <a:srgbClr val="3E5C86"/>
            </a:solidFill>
            <a:prstDash val="dash"/>
          </a:ln>
        </p:spPr>
      </p:sp>
      <p:sp>
        <p:nvSpPr>
          <p:cNvPr id="47" name="Text 41"/>
          <p:cNvSpPr/>
          <p:nvPr/>
        </p:nvSpPr>
        <p:spPr>
          <a:xfrm>
            <a:off x="7744968" y="5129784"/>
            <a:ext cx="3593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(FAQ / Course / Student / Syllabus) queries its dataset</a:t>
            </a:r>
            <a:endParaRPr lang="en-US" sz="1100" dirty="0"/>
          </a:p>
        </p:txBody>
      </p:sp>
      <p:sp>
        <p:nvSpPr>
          <p:cNvPr id="48" name="Shape 42"/>
          <p:cNvSpPr/>
          <p:nvPr/>
        </p:nvSpPr>
        <p:spPr>
          <a:xfrm>
            <a:off x="7223760" y="6035040"/>
            <a:ext cx="365760" cy="365760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49" name="Text 43"/>
          <p:cNvSpPr/>
          <p:nvPr/>
        </p:nvSpPr>
        <p:spPr>
          <a:xfrm>
            <a:off x="7223760" y="6035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50" name="Text 44"/>
          <p:cNvSpPr/>
          <p:nvPr/>
        </p:nvSpPr>
        <p:spPr>
          <a:xfrm>
            <a:off x="7744968" y="5998464"/>
            <a:ext cx="3593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answer is returned as JSON and rendered in the UI</a:t>
            </a:r>
            <a:endParaRPr lang="en-US" sz="1100" dirty="0"/>
          </a:p>
        </p:txBody>
      </p:sp>
      <p:sp>
        <p:nvSpPr>
          <p:cNvPr id="51" name="Text 45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2" name="Text 4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 System for Academic Assistance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E8873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REPOSITORY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20624" y="566928"/>
            <a:ext cx="7863840" cy="713232"/>
          </a:xfrm>
          <a:prstGeom prst="roundRect">
            <a:avLst>
              <a:gd name="adj" fmla="val 12821"/>
            </a:avLst>
          </a:prstGeom>
          <a:solidFill>
            <a:srgbClr val="E3F3F3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566928"/>
            <a:ext cx="7589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Structure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71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github.com/Jidnyasa-08/multi-agent-ai-system-for-academic-assistance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6949440" cy="4617720"/>
          </a:xfrm>
          <a:prstGeom prst="roundRect">
            <a:avLst>
              <a:gd name="adj" fmla="val 1980"/>
            </a:avLst>
          </a:prstGeom>
          <a:solidFill>
            <a:srgbClr val="13294B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8" name="Image 0" descr="icon_fold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71116"/>
            <a:ext cx="164592" cy="1645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5568" y="2029968"/>
            <a:ext cx="6263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FE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</a:t>
            </a:r>
            <a:endParaRPr lang="en-US" sz="1200" dirty="0"/>
          </a:p>
        </p:txBody>
      </p:sp>
      <p:pic>
        <p:nvPicPr>
          <p:cNvPr id="10" name="Image 1" descr="icon_fold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576" y="2280514"/>
            <a:ext cx="164592" cy="1645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26464" y="2239366"/>
            <a:ext cx="5952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FE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cleaned/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1517904" y="2540203"/>
            <a:ext cx="54864" cy="54864"/>
          </a:xfrm>
          <a:prstGeom prst="ellipse">
            <a:avLst/>
          </a:prstGeom>
          <a:solidFill>
            <a:srgbClr val="C9D6E0"/>
          </a:solidFill>
          <a:ln/>
        </p:spPr>
      </p:sp>
      <p:sp>
        <p:nvSpPr>
          <p:cNvPr id="13" name="Text 9"/>
          <p:cNvSpPr/>
          <p:nvPr/>
        </p:nvSpPr>
        <p:spPr>
          <a:xfrm>
            <a:off x="1700784" y="2448763"/>
            <a:ext cx="5641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faq_cleaned.json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1517904" y="2749601"/>
            <a:ext cx="54864" cy="54864"/>
          </a:xfrm>
          <a:prstGeom prst="ellipse">
            <a:avLst/>
          </a:prstGeom>
          <a:solidFill>
            <a:srgbClr val="C9D6E0"/>
          </a:solidFill>
          <a:ln/>
        </p:spPr>
      </p:sp>
      <p:sp>
        <p:nvSpPr>
          <p:cNvPr id="15" name="Text 11"/>
          <p:cNvSpPr/>
          <p:nvPr/>
        </p:nvSpPr>
        <p:spPr>
          <a:xfrm>
            <a:off x="1700784" y="2658161"/>
            <a:ext cx="5641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students_cleaned.csv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1517904" y="2958998"/>
            <a:ext cx="54864" cy="54864"/>
          </a:xfrm>
          <a:prstGeom prst="ellipse">
            <a:avLst/>
          </a:prstGeom>
          <a:solidFill>
            <a:srgbClr val="C9D6E0"/>
          </a:solidFill>
          <a:ln/>
        </p:spPr>
      </p:sp>
      <p:sp>
        <p:nvSpPr>
          <p:cNvPr id="17" name="Text 13"/>
          <p:cNvSpPr/>
          <p:nvPr/>
        </p:nvSpPr>
        <p:spPr>
          <a:xfrm>
            <a:off x="1700784" y="2867558"/>
            <a:ext cx="5641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courses_cleaned.xlsx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1517904" y="3168396"/>
            <a:ext cx="54864" cy="54864"/>
          </a:xfrm>
          <a:prstGeom prst="ellipse">
            <a:avLst/>
          </a:prstGeom>
          <a:solidFill>
            <a:srgbClr val="C9D6E0"/>
          </a:solidFill>
          <a:ln/>
        </p:spPr>
      </p:sp>
      <p:sp>
        <p:nvSpPr>
          <p:cNvPr id="19" name="Text 15"/>
          <p:cNvSpPr/>
          <p:nvPr/>
        </p:nvSpPr>
        <p:spPr>
          <a:xfrm>
            <a:off x="1700784" y="3076956"/>
            <a:ext cx="5641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syllabus_cleaned.pdf</a:t>
            </a:r>
            <a:endParaRPr lang="en-US" sz="1100" dirty="0"/>
          </a:p>
        </p:txBody>
      </p:sp>
      <p:pic>
        <p:nvPicPr>
          <p:cNvPr id="20" name="Image 2" descr="icon_folde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327502"/>
            <a:ext cx="164592" cy="16459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15568" y="3286354"/>
            <a:ext cx="6263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FE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1207008" y="3587191"/>
            <a:ext cx="54864" cy="54864"/>
          </a:xfrm>
          <a:prstGeom prst="ellipse">
            <a:avLst/>
          </a:prstGeom>
          <a:solidFill>
            <a:srgbClr val="6FE0D6"/>
          </a:solidFill>
          <a:ln/>
        </p:spPr>
      </p:sp>
      <p:sp>
        <p:nvSpPr>
          <p:cNvPr id="23" name="Text 18"/>
          <p:cNvSpPr/>
          <p:nvPr/>
        </p:nvSpPr>
        <p:spPr>
          <a:xfrm>
            <a:off x="1389888" y="3495751"/>
            <a:ext cx="5952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1100" dirty="0"/>
          </a:p>
        </p:txBody>
      </p:sp>
      <p:pic>
        <p:nvPicPr>
          <p:cNvPr id="24" name="Image 3" descr="icon_folde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576" y="3746297"/>
            <a:ext cx="164592" cy="16459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26464" y="3705149"/>
            <a:ext cx="5952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FE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agents/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1517904" y="4005986"/>
            <a:ext cx="54864" cy="54864"/>
          </a:xfrm>
          <a:prstGeom prst="ellipse">
            <a:avLst/>
          </a:prstGeom>
          <a:solidFill>
            <a:srgbClr val="6FE0D6"/>
          </a:solidFill>
          <a:ln/>
        </p:spPr>
      </p:sp>
      <p:sp>
        <p:nvSpPr>
          <p:cNvPr id="27" name="Text 21"/>
          <p:cNvSpPr/>
          <p:nvPr/>
        </p:nvSpPr>
        <p:spPr>
          <a:xfrm>
            <a:off x="1700784" y="3914546"/>
            <a:ext cx="5641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faq_agent.py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1517904" y="4215384"/>
            <a:ext cx="54864" cy="54864"/>
          </a:xfrm>
          <a:prstGeom prst="ellipse">
            <a:avLst/>
          </a:prstGeom>
          <a:solidFill>
            <a:srgbClr val="6FE0D6"/>
          </a:solidFill>
          <a:ln/>
        </p:spPr>
      </p:sp>
      <p:sp>
        <p:nvSpPr>
          <p:cNvPr id="29" name="Text 23"/>
          <p:cNvSpPr/>
          <p:nvPr/>
        </p:nvSpPr>
        <p:spPr>
          <a:xfrm>
            <a:off x="1700784" y="4123944"/>
            <a:ext cx="5641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course_agent.py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1517904" y="4424782"/>
            <a:ext cx="54864" cy="54864"/>
          </a:xfrm>
          <a:prstGeom prst="ellipse">
            <a:avLst/>
          </a:prstGeom>
          <a:solidFill>
            <a:srgbClr val="6FE0D6"/>
          </a:solidFill>
          <a:ln/>
        </p:spPr>
      </p:sp>
      <p:sp>
        <p:nvSpPr>
          <p:cNvPr id="31" name="Text 25"/>
          <p:cNvSpPr/>
          <p:nvPr/>
        </p:nvSpPr>
        <p:spPr>
          <a:xfrm>
            <a:off x="1700784" y="4333342"/>
            <a:ext cx="5641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student_agent.py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1517904" y="4634179"/>
            <a:ext cx="54864" cy="54864"/>
          </a:xfrm>
          <a:prstGeom prst="ellipse">
            <a:avLst/>
          </a:prstGeom>
          <a:solidFill>
            <a:srgbClr val="6FE0D6"/>
          </a:solidFill>
          <a:ln/>
        </p:spPr>
      </p:sp>
      <p:sp>
        <p:nvSpPr>
          <p:cNvPr id="33" name="Text 27"/>
          <p:cNvSpPr/>
          <p:nvPr/>
        </p:nvSpPr>
        <p:spPr>
          <a:xfrm>
            <a:off x="1700784" y="4542739"/>
            <a:ext cx="5641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syllabus_agent.py</a:t>
            </a:r>
            <a:endParaRPr lang="en-US" sz="1100" dirty="0"/>
          </a:p>
        </p:txBody>
      </p:sp>
      <p:pic>
        <p:nvPicPr>
          <p:cNvPr id="34" name="Image 4" descr="icon_folder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793285"/>
            <a:ext cx="164592" cy="16459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115568" y="4752137"/>
            <a:ext cx="6263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FE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frontend/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1207008" y="5052974"/>
            <a:ext cx="54864" cy="54864"/>
          </a:xfrm>
          <a:prstGeom prst="ellipse">
            <a:avLst/>
          </a:prstGeom>
          <a:solidFill>
            <a:srgbClr val="6FE0D6"/>
          </a:solidFill>
          <a:ln/>
        </p:spPr>
      </p:sp>
      <p:sp>
        <p:nvSpPr>
          <p:cNvPr id="37" name="Text 30"/>
          <p:cNvSpPr/>
          <p:nvPr/>
        </p:nvSpPr>
        <p:spPr>
          <a:xfrm>
            <a:off x="1389888" y="4961534"/>
            <a:ext cx="5952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100" dirty="0"/>
          </a:p>
        </p:txBody>
      </p:sp>
      <p:pic>
        <p:nvPicPr>
          <p:cNvPr id="38" name="Image 5" descr="icon_folder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212080"/>
            <a:ext cx="164592" cy="164592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1115568" y="5170932"/>
            <a:ext cx="6263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FE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reports/</a:t>
            </a:r>
            <a:endParaRPr lang="en-US" sz="1200" dirty="0"/>
          </a:p>
        </p:txBody>
      </p:sp>
      <p:sp>
        <p:nvSpPr>
          <p:cNvPr id="40" name="Shape 32"/>
          <p:cNvSpPr/>
          <p:nvPr/>
        </p:nvSpPr>
        <p:spPr>
          <a:xfrm>
            <a:off x="1207008" y="5471770"/>
            <a:ext cx="54864" cy="54864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41" name="Text 33"/>
          <p:cNvSpPr/>
          <p:nvPr/>
        </p:nvSpPr>
        <p:spPr>
          <a:xfrm>
            <a:off x="1389888" y="5380330"/>
            <a:ext cx="5952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Technical_Report.pdf</a:t>
            </a:r>
            <a:endParaRPr lang="en-US" sz="1100" dirty="0"/>
          </a:p>
        </p:txBody>
      </p:sp>
      <p:sp>
        <p:nvSpPr>
          <p:cNvPr id="42" name="Shape 34"/>
          <p:cNvSpPr/>
          <p:nvPr/>
        </p:nvSpPr>
        <p:spPr>
          <a:xfrm>
            <a:off x="1207008" y="5681167"/>
            <a:ext cx="54864" cy="54864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43" name="Text 35"/>
          <p:cNvSpPr/>
          <p:nvPr/>
        </p:nvSpPr>
        <p:spPr>
          <a:xfrm>
            <a:off x="1389888" y="5589727"/>
            <a:ext cx="5952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API_Documentation.pdf</a:t>
            </a:r>
            <a:endParaRPr lang="en-US" sz="1100" dirty="0"/>
          </a:p>
        </p:txBody>
      </p:sp>
      <p:sp>
        <p:nvSpPr>
          <p:cNvPr id="44" name="Shape 36"/>
          <p:cNvSpPr/>
          <p:nvPr/>
        </p:nvSpPr>
        <p:spPr>
          <a:xfrm>
            <a:off x="1207008" y="5890565"/>
            <a:ext cx="54864" cy="54864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45" name="Text 37"/>
          <p:cNvSpPr/>
          <p:nvPr/>
        </p:nvSpPr>
        <p:spPr>
          <a:xfrm>
            <a:off x="1389888" y="5799125"/>
            <a:ext cx="5952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Backend_Overview.pdf</a:t>
            </a:r>
            <a:endParaRPr lang="en-US" sz="1100" dirty="0"/>
          </a:p>
        </p:txBody>
      </p:sp>
      <p:sp>
        <p:nvSpPr>
          <p:cNvPr id="46" name="Shape 38"/>
          <p:cNvSpPr/>
          <p:nvPr/>
        </p:nvSpPr>
        <p:spPr>
          <a:xfrm>
            <a:off x="1207008" y="6099962"/>
            <a:ext cx="54864" cy="54864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47" name="Text 39"/>
          <p:cNvSpPr/>
          <p:nvPr/>
        </p:nvSpPr>
        <p:spPr>
          <a:xfrm>
            <a:off x="1389888" y="6008522"/>
            <a:ext cx="5952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Frontend_Wireframe.pdf</a:t>
            </a:r>
            <a:endParaRPr lang="en-US" sz="1100" dirty="0"/>
          </a:p>
        </p:txBody>
      </p:sp>
      <p:sp>
        <p:nvSpPr>
          <p:cNvPr id="48" name="Text 40"/>
          <p:cNvSpPr/>
          <p:nvPr/>
        </p:nvSpPr>
        <p:spPr>
          <a:xfrm>
            <a:off x="7863840" y="1874520"/>
            <a:ext cx="3776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Lives Where</a:t>
            </a:r>
            <a:endParaRPr lang="en-US" sz="1600" dirty="0"/>
          </a:p>
        </p:txBody>
      </p:sp>
      <p:sp>
        <p:nvSpPr>
          <p:cNvPr id="49" name="Shape 41"/>
          <p:cNvSpPr/>
          <p:nvPr/>
        </p:nvSpPr>
        <p:spPr>
          <a:xfrm>
            <a:off x="7863840" y="2331720"/>
            <a:ext cx="420624" cy="420624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50" name="Image 6" descr="icon_databas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81615" y="2449495"/>
            <a:ext cx="185075" cy="185075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8430768" y="2313432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data/cleaned/</a:t>
            </a:r>
            <a:endParaRPr lang="en-US" sz="1250" dirty="0"/>
          </a:p>
        </p:txBody>
      </p:sp>
      <p:sp>
        <p:nvSpPr>
          <p:cNvPr id="52" name="Text 43"/>
          <p:cNvSpPr/>
          <p:nvPr/>
        </p:nvSpPr>
        <p:spPr>
          <a:xfrm>
            <a:off x="8430768" y="2569464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Preprocessed FAQ, student, course &amp; syllabus datasets</a:t>
            </a:r>
            <a:endParaRPr lang="en-US" sz="1050" dirty="0"/>
          </a:p>
        </p:txBody>
      </p:sp>
      <p:sp>
        <p:nvSpPr>
          <p:cNvPr id="53" name="Shape 44"/>
          <p:cNvSpPr/>
          <p:nvPr/>
        </p:nvSpPr>
        <p:spPr>
          <a:xfrm>
            <a:off x="7863840" y="3154680"/>
            <a:ext cx="420624" cy="420624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54" name="Image 7" descr="icon_robo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81615" y="3272455"/>
            <a:ext cx="185075" cy="185075"/>
          </a:xfrm>
          <a:prstGeom prst="rect">
            <a:avLst/>
          </a:prstGeom>
        </p:spPr>
      </p:pic>
      <p:sp>
        <p:nvSpPr>
          <p:cNvPr id="55" name="Text 45"/>
          <p:cNvSpPr/>
          <p:nvPr/>
        </p:nvSpPr>
        <p:spPr>
          <a:xfrm>
            <a:off x="8430768" y="3136392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src/agents/</a:t>
            </a:r>
            <a:endParaRPr lang="en-US" sz="1250" dirty="0"/>
          </a:p>
        </p:txBody>
      </p:sp>
      <p:sp>
        <p:nvSpPr>
          <p:cNvPr id="56" name="Text 46"/>
          <p:cNvSpPr/>
          <p:nvPr/>
        </p:nvSpPr>
        <p:spPr>
          <a:xfrm>
            <a:off x="8430768" y="3392424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independent agent modules, one per domain</a:t>
            </a:r>
            <a:endParaRPr lang="en-US" sz="1050" dirty="0"/>
          </a:p>
        </p:txBody>
      </p:sp>
      <p:sp>
        <p:nvSpPr>
          <p:cNvPr id="57" name="Shape 47"/>
          <p:cNvSpPr/>
          <p:nvPr/>
        </p:nvSpPr>
        <p:spPr>
          <a:xfrm>
            <a:off x="7863840" y="3977640"/>
            <a:ext cx="420624" cy="420624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58" name="Image 8" descr="icon_serve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81615" y="4095415"/>
            <a:ext cx="185075" cy="185075"/>
          </a:xfrm>
          <a:prstGeom prst="rect">
            <a:avLst/>
          </a:prstGeom>
        </p:spPr>
      </p:pic>
      <p:sp>
        <p:nvSpPr>
          <p:cNvPr id="59" name="Text 48"/>
          <p:cNvSpPr/>
          <p:nvPr/>
        </p:nvSpPr>
        <p:spPr>
          <a:xfrm>
            <a:off x="8430768" y="3959352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src/app.py</a:t>
            </a:r>
            <a:endParaRPr lang="en-US" sz="1250" dirty="0"/>
          </a:p>
        </p:txBody>
      </p:sp>
      <p:sp>
        <p:nvSpPr>
          <p:cNvPr id="60" name="Text 49"/>
          <p:cNvSpPr/>
          <p:nvPr/>
        </p:nvSpPr>
        <p:spPr>
          <a:xfrm>
            <a:off x="8430768" y="4215384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entry point exposing the REST API</a:t>
            </a:r>
            <a:endParaRPr lang="en-US" sz="1050" dirty="0"/>
          </a:p>
        </p:txBody>
      </p:sp>
      <p:sp>
        <p:nvSpPr>
          <p:cNvPr id="61" name="Shape 50"/>
          <p:cNvSpPr/>
          <p:nvPr/>
        </p:nvSpPr>
        <p:spPr>
          <a:xfrm>
            <a:off x="7863840" y="4800600"/>
            <a:ext cx="420624" cy="420624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62" name="Image 9" descr="icon_desktop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81615" y="4918375"/>
            <a:ext cx="185075" cy="185075"/>
          </a:xfrm>
          <a:prstGeom prst="rect">
            <a:avLst/>
          </a:prstGeom>
        </p:spPr>
      </p:pic>
      <p:sp>
        <p:nvSpPr>
          <p:cNvPr id="63" name="Text 51"/>
          <p:cNvSpPr/>
          <p:nvPr/>
        </p:nvSpPr>
        <p:spPr>
          <a:xfrm>
            <a:off x="8430768" y="4782312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frontend/</a:t>
            </a:r>
            <a:endParaRPr lang="en-US" sz="1250" dirty="0"/>
          </a:p>
        </p:txBody>
      </p:sp>
      <p:sp>
        <p:nvSpPr>
          <p:cNvPr id="64" name="Text 52"/>
          <p:cNvSpPr/>
          <p:nvPr/>
        </p:nvSpPr>
        <p:spPr>
          <a:xfrm>
            <a:off x="8430768" y="5038344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interface served to the student</a:t>
            </a:r>
            <a:endParaRPr lang="en-US" sz="1050" dirty="0"/>
          </a:p>
        </p:txBody>
      </p:sp>
      <p:sp>
        <p:nvSpPr>
          <p:cNvPr id="65" name="Shape 53"/>
          <p:cNvSpPr/>
          <p:nvPr/>
        </p:nvSpPr>
        <p:spPr>
          <a:xfrm>
            <a:off x="7863840" y="5623560"/>
            <a:ext cx="420624" cy="420624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66" name="Image 10" descr="icon_filepdf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81615" y="5741335"/>
            <a:ext cx="185075" cy="185075"/>
          </a:xfrm>
          <a:prstGeom prst="rect">
            <a:avLst/>
          </a:prstGeom>
        </p:spPr>
      </p:pic>
      <p:sp>
        <p:nvSpPr>
          <p:cNvPr id="67" name="Text 54"/>
          <p:cNvSpPr/>
          <p:nvPr/>
        </p:nvSpPr>
        <p:spPr>
          <a:xfrm>
            <a:off x="8430768" y="5605272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reports/</a:t>
            </a:r>
            <a:endParaRPr lang="en-US" sz="1250" dirty="0"/>
          </a:p>
        </p:txBody>
      </p:sp>
      <p:sp>
        <p:nvSpPr>
          <p:cNvPr id="68" name="Text 55"/>
          <p:cNvSpPr/>
          <p:nvPr/>
        </p:nvSpPr>
        <p:spPr>
          <a:xfrm>
            <a:off x="8430768" y="5861304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Technical, API, backend &amp; wireframe documentation</a:t>
            </a:r>
            <a:endParaRPr lang="en-US" sz="1050" dirty="0"/>
          </a:p>
        </p:txBody>
      </p:sp>
      <p:sp>
        <p:nvSpPr>
          <p:cNvPr id="69" name="Text 56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0" name="Text 5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 System for Academic Assistance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Multi-Agent AI System for Academic Assistance</dc:title>
  <dc:subject>PptxGenJS Presentation</dc:subject>
  <dc:creator>Jidnyasa Sanjay Thakare</dc:creator>
  <cp:lastModifiedBy>Jidnyasa Sanjay Thakare</cp:lastModifiedBy>
  <cp:revision>1</cp:revision>
  <dcterms:created xsi:type="dcterms:W3CDTF">2026-07-10T16:33:42Z</dcterms:created>
  <dcterms:modified xsi:type="dcterms:W3CDTF">2026-07-10T16:33:42Z</dcterms:modified>
</cp:coreProperties>
</file>